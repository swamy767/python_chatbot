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257" r:id="rId3"/>
    <p:sldId id="277" r:id="rId4"/>
    <p:sldId id="268" r:id="rId5"/>
    <p:sldId id="269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655" autoAdjust="0"/>
  </p:normalViewPr>
  <p:slideViewPr>
    <p:cSldViewPr>
      <p:cViewPr>
        <p:scale>
          <a:sx n="50" d="100"/>
          <a:sy n="50" d="100"/>
        </p:scale>
        <p:origin x="-1872" y="-5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58B00-945E-4725-A463-E8B5DBD95DCA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800E5-8B9E-408C-A3AD-0764E52BD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83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51435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95250" y="2571750"/>
            <a:ext cx="51435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400050"/>
            <a:ext cx="5105400" cy="2151126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2654898"/>
            <a:ext cx="5114778" cy="825936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4918459"/>
            <a:ext cx="2002464" cy="170177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3071B13-9BED-4F4C-9C22-459C9CAAF08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4918460"/>
            <a:ext cx="2927722" cy="17145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4917186"/>
            <a:ext cx="588336" cy="17145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7C6EAFB-1412-46D5-ABEA-7E2FE29C2BC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3071B13-9BED-4F4C-9C22-459C9CAAF08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C6EAFB-1412-46D5-ABEA-7E2FE29C2B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116378"/>
            <a:ext cx="6255488" cy="1021556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428751"/>
            <a:ext cx="6255488" cy="55763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4917607"/>
            <a:ext cx="2002464" cy="170177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3071B13-9BED-4F4C-9C22-459C9CAAF08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4917608"/>
            <a:ext cx="2895600" cy="17145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4916334"/>
            <a:ext cx="588336" cy="171450"/>
          </a:xfrm>
        </p:spPr>
        <p:txBody>
          <a:bodyPr/>
          <a:lstStyle>
            <a:extLst/>
          </a:lstStyle>
          <a:p>
            <a:fld id="{17C6EAFB-1412-46D5-ABEA-7E2FE29C2BC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0030"/>
            <a:ext cx="7242048" cy="85725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3520440" cy="3394472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200151"/>
            <a:ext cx="3520440" cy="3394472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3071B13-9BED-4F4C-9C22-459C9CAAF08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C6EAFB-1412-46D5-ABEA-7E2FE29C2B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0030"/>
            <a:ext cx="7242048" cy="85725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400550"/>
            <a:ext cx="3520440" cy="3429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4400550"/>
            <a:ext cx="3520440" cy="3429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283880"/>
            <a:ext cx="3520440" cy="308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283880"/>
            <a:ext cx="3520440" cy="308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3071B13-9BED-4F4C-9C22-459C9CAAF08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C6EAFB-1412-46D5-ABEA-7E2FE29C2B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0030"/>
            <a:ext cx="7242048" cy="85725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3071B13-9BED-4F4C-9C22-459C9CAAF08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C6EAFB-1412-46D5-ABEA-7E2FE29C2B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3071B13-9BED-4F4C-9C22-459C9CAAF08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C6EAFB-1412-46D5-ABEA-7E2FE29C2B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5897880" cy="88011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123062"/>
            <a:ext cx="5897880" cy="451884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7239000" cy="32788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3071B13-9BED-4F4C-9C22-459C9CAAF08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C6EAFB-1412-46D5-ABEA-7E2FE29C2B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9" y="753501"/>
            <a:ext cx="4319527" cy="3234430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749112"/>
            <a:ext cx="4319527" cy="3234430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857250"/>
            <a:ext cx="3429000" cy="154305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2462726"/>
            <a:ext cx="3429000" cy="144018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3071B13-9BED-4F4C-9C22-459C9CAAF08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C6EAFB-1412-46D5-ABEA-7E2FE29C2BC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780752"/>
            <a:ext cx="4206240" cy="315468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3071B13-9BED-4F4C-9C22-459C9CAAF08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C6EAFB-1412-46D5-ABEA-7E2FE29C2B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06217"/>
            <a:ext cx="1524000" cy="4388644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2"/>
            <a:ext cx="6019800" cy="4388644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4918459"/>
            <a:ext cx="2002464" cy="170177"/>
          </a:xfrm>
        </p:spPr>
        <p:txBody>
          <a:bodyPr/>
          <a:lstStyle>
            <a:extLst/>
          </a:lstStyle>
          <a:p>
            <a:fld id="{13071B13-9BED-4F4C-9C22-459C9CAAF08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917186"/>
            <a:ext cx="3657600" cy="17145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4914900"/>
            <a:ext cx="588336" cy="1714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7C6EAFB-1412-46D5-ABEA-7E2FE29C2B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51435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207062"/>
            <a:ext cx="7239000" cy="363474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4918459"/>
            <a:ext cx="2002464" cy="170177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3071B13-9BED-4F4C-9C22-459C9CAAF08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4918460"/>
            <a:ext cx="3657600" cy="17145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4917186"/>
            <a:ext cx="588336" cy="17145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17C6EAFB-1412-46D5-ABEA-7E2FE29C2BC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chidanandamurthymv@ssit.edu.in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6onhhIL6gM&amp;list=PLm_MSClsnwm9hEIDpFfDnOEu-6kVnF4ug&amp;index=3" TargetMode="External"/><Relationship Id="rId2" Type="http://schemas.openxmlformats.org/officeDocument/2006/relationships/hyperlink" Target="file:///H:\My%20Drive\SSIT%20Doc\Academics\Study%20materials\Microcontroller\Notes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6PPcGZGfl8w&amp;list=PLgwJf8NK-2e4LaLfRo0v9NJL4ElJ677dp&amp;index=2" TargetMode="External"/><Relationship Id="rId5" Type="http://schemas.openxmlformats.org/officeDocument/2006/relationships/hyperlink" Target="https://www.youtube.com/watch?v=iGVCcfUE2j8&amp;list=PLgwJf8NK-2e4LaLfRo0v9NJL4ElJ677dp&amp;index=3" TargetMode="External"/><Relationship Id="rId4" Type="http://schemas.openxmlformats.org/officeDocument/2006/relationships/hyperlink" Target="https://www.youtube.com/watch?v=iXSXIJn_Xwc&amp;list=PLm_MSClsnwm9hEIDpFfDnOEu-6kVnF4ug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9400" y="209550"/>
            <a:ext cx="5652868" cy="215112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Microprocessor and its applications</a:t>
            </a:r>
            <a:br>
              <a:rPr lang="en-US" dirty="0" smtClean="0"/>
            </a:br>
            <a:r>
              <a:rPr lang="en-US" sz="2700" dirty="0" smtClean="0"/>
              <a:t>2024-25</a:t>
            </a:r>
            <a:endParaRPr lang="en-US" sz="2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4442" y="2654898"/>
            <a:ext cx="5114778" cy="1974252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Dr. </a:t>
            </a:r>
            <a:r>
              <a:rPr lang="en-US" dirty="0" err="1" smtClean="0"/>
              <a:t>Chidananda</a:t>
            </a:r>
            <a:r>
              <a:rPr lang="en-US" dirty="0" smtClean="0"/>
              <a:t> Murthy M V</a:t>
            </a:r>
          </a:p>
          <a:p>
            <a:r>
              <a:rPr lang="en-US" dirty="0" smtClean="0"/>
              <a:t>Associate Professor</a:t>
            </a:r>
          </a:p>
          <a:p>
            <a:r>
              <a:rPr lang="en-US" dirty="0" smtClean="0"/>
              <a:t>Dept. of ECE, </a:t>
            </a:r>
          </a:p>
          <a:p>
            <a:r>
              <a:rPr lang="en-US" dirty="0" smtClean="0"/>
              <a:t>Sri Siddhartha Institute of Technology</a:t>
            </a:r>
          </a:p>
          <a:p>
            <a:r>
              <a:rPr lang="en-US" dirty="0" smtClean="0"/>
              <a:t>Sri Siddhartha Academy of Academy of Higher Education</a:t>
            </a:r>
          </a:p>
          <a:p>
            <a:r>
              <a:rPr lang="en-US" dirty="0" err="1" smtClean="0"/>
              <a:t>Tumkur</a:t>
            </a:r>
            <a:endParaRPr lang="en-US" dirty="0" smtClean="0"/>
          </a:p>
          <a:p>
            <a:r>
              <a:rPr lang="en-US" dirty="0" smtClean="0">
                <a:hlinkClick r:id="rId2"/>
              </a:rPr>
              <a:t>chidanandamurthymv@ssit.edu.in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2880160"/>
            <a:ext cx="1372518" cy="1291790"/>
          </a:xfrm>
          <a:prstGeom prst="rect">
            <a:avLst/>
          </a:prstGeom>
        </p:spPr>
      </p:pic>
      <p:pic>
        <p:nvPicPr>
          <p:cNvPr id="1026" name="Picture 2" descr="https://sahe.in/images/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723900"/>
            <a:ext cx="12382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0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15543" y="1778793"/>
            <a:ext cx="3544945" cy="1021556"/>
          </a:xfrm>
        </p:spPr>
        <p:txBody>
          <a:bodyPr>
            <a:noAutofit/>
          </a:bodyPr>
          <a:lstStyle/>
          <a:p>
            <a:r>
              <a:rPr lang="en-IN" sz="2800" dirty="0"/>
              <a:t>8051 I/O Ports, Timer/counter programming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066800" y="1123950"/>
            <a:ext cx="6255488" cy="557630"/>
          </a:xfrm>
        </p:spPr>
        <p:txBody>
          <a:bodyPr/>
          <a:lstStyle/>
          <a:p>
            <a:r>
              <a:rPr lang="en-US" dirty="0" smtClean="0"/>
              <a:t>Unit - 3</a:t>
            </a:r>
            <a:endParaRPr lang="en-IN" dirty="0"/>
          </a:p>
        </p:txBody>
      </p:sp>
      <p:pic>
        <p:nvPicPr>
          <p:cNvPr id="3074" name="Picture 2" descr="LED Interfacing With 8051 Microcontroller Tutorial And Circuit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8150"/>
            <a:ext cx="4583582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51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IN" sz="3200" dirty="0"/>
              <a:t>Peripherals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8" name="Picture 4" descr="Microcontroller, 8051, AVR, and PIC Microcontroller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" y="209550"/>
            <a:ext cx="4972489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8051 Microcontroller and Periphera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318" y="2266950"/>
            <a:ext cx="4192682" cy="287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310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57830" y="94887"/>
            <a:ext cx="6143170" cy="601799"/>
          </a:xfrm>
        </p:spPr>
        <p:txBody>
          <a:bodyPr vert="wordArtVert">
            <a:normAutofit fontScale="90000"/>
          </a:bodyPr>
          <a:lstStyle/>
          <a:p>
            <a:r>
              <a:rPr lang="en-US" dirty="0" smtClean="0"/>
              <a:t>Ports of 8051</a:t>
            </a:r>
            <a:endParaRPr lang="en-IN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57" t="19047" r="32957" b="14286"/>
          <a:stretch/>
        </p:blipFill>
        <p:spPr bwMode="auto">
          <a:xfrm>
            <a:off x="0" y="824593"/>
            <a:ext cx="4621553" cy="418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8051 Architectu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49"/>
          <a:stretch/>
        </p:blipFill>
        <p:spPr bwMode="auto">
          <a:xfrm>
            <a:off x="5285644" y="853064"/>
            <a:ext cx="3858357" cy="4080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52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9550"/>
            <a:ext cx="7696200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</a:rPr>
              <a:t>Pins 32 to 39</a:t>
            </a:r>
            <a:r>
              <a:rPr lang="en-US" sz="1600" b="1" dirty="0"/>
              <a:t>: </a:t>
            </a:r>
            <a:r>
              <a:rPr lang="en-US" sz="1600" dirty="0"/>
              <a:t>Pins 32 to 39 are known as </a:t>
            </a:r>
            <a:r>
              <a:rPr lang="en-US" sz="1600" b="1" dirty="0"/>
              <a:t>Port 0</a:t>
            </a:r>
            <a:r>
              <a:rPr lang="en-US" sz="1600" dirty="0"/>
              <a:t> (P0.0 to P0.7), and they are multiplexed with low-order data/address bus signals</a:t>
            </a:r>
            <a:endParaRPr lang="en-US" sz="1600" b="1" dirty="0" smtClean="0">
              <a:solidFill>
                <a:srgbClr val="C0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 smtClean="0">
                <a:solidFill>
                  <a:srgbClr val="C00000"/>
                </a:solidFill>
              </a:rPr>
              <a:t>Pins </a:t>
            </a:r>
            <a:r>
              <a:rPr lang="en-US" sz="1600" b="1" dirty="0">
                <a:solidFill>
                  <a:srgbClr val="C00000"/>
                </a:solidFill>
              </a:rPr>
              <a:t>1 to </a:t>
            </a:r>
            <a:r>
              <a:rPr lang="en-US" sz="1600" b="1" dirty="0" smtClean="0">
                <a:solidFill>
                  <a:srgbClr val="C00000"/>
                </a:solidFill>
              </a:rPr>
              <a:t>8</a:t>
            </a:r>
            <a:r>
              <a:rPr lang="en-US" sz="1600" b="1" dirty="0" smtClean="0"/>
              <a:t>: </a:t>
            </a:r>
            <a:r>
              <a:rPr lang="en-US" sz="1600" dirty="0" smtClean="0"/>
              <a:t>It </a:t>
            </a:r>
            <a:r>
              <a:rPr lang="en-US" sz="1600" dirty="0"/>
              <a:t>is also known as </a:t>
            </a:r>
            <a:r>
              <a:rPr lang="en-US" sz="1600" b="1" dirty="0"/>
              <a:t>PORT 1</a:t>
            </a:r>
            <a:r>
              <a:rPr lang="en-US" sz="1600" dirty="0"/>
              <a:t>. The 8-bit bidirectional input and output </a:t>
            </a:r>
            <a:r>
              <a:rPr lang="en-US" sz="1600" dirty="0" smtClean="0"/>
              <a:t>ports</a:t>
            </a:r>
          </a:p>
          <a:p>
            <a:pPr algn="just">
              <a:lnSpc>
                <a:spcPct val="150000"/>
              </a:lnSpc>
            </a:pPr>
            <a:r>
              <a:rPr lang="en-US" sz="1600" b="1" dirty="0" smtClean="0">
                <a:solidFill>
                  <a:srgbClr val="C00000"/>
                </a:solidFill>
              </a:rPr>
              <a:t>Pins- </a:t>
            </a:r>
            <a:r>
              <a:rPr lang="en-US" sz="1600" b="1" dirty="0">
                <a:solidFill>
                  <a:srgbClr val="C00000"/>
                </a:solidFill>
              </a:rPr>
              <a:t>21-28</a:t>
            </a:r>
            <a:r>
              <a:rPr lang="en-US" sz="1600" b="1" dirty="0"/>
              <a:t>: </a:t>
            </a:r>
            <a:r>
              <a:rPr lang="en-US" sz="1600" dirty="0"/>
              <a:t>The </a:t>
            </a:r>
            <a:r>
              <a:rPr lang="en-US" sz="1600" b="1" dirty="0"/>
              <a:t>PORT 2</a:t>
            </a:r>
            <a:r>
              <a:rPr lang="en-US" sz="1600" dirty="0"/>
              <a:t> Pins on the 8051 Microcontroller are Pins 21 through 28. The PORT 2 pins function as either inputs or outputs because it is a bidirectional port. Additionally, PORT 2 pins work as the higher-order address byte when external memory is interfaced.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</a:rPr>
              <a:t>Pins 10 to </a:t>
            </a:r>
            <a:r>
              <a:rPr lang="en-US" sz="1600" b="1" dirty="0" smtClean="0">
                <a:solidFill>
                  <a:srgbClr val="C00000"/>
                </a:solidFill>
              </a:rPr>
              <a:t>17</a:t>
            </a:r>
            <a:r>
              <a:rPr lang="en-US" sz="1600" b="1" dirty="0" smtClean="0"/>
              <a:t>: </a:t>
            </a:r>
            <a:r>
              <a:rPr lang="en-US" sz="1600" dirty="0" smtClean="0"/>
              <a:t>It </a:t>
            </a:r>
            <a:r>
              <a:rPr lang="en-US" sz="1600" dirty="0"/>
              <a:t>is also known as </a:t>
            </a:r>
            <a:r>
              <a:rPr lang="en-US" sz="1600" b="1" dirty="0"/>
              <a:t>PORT </a:t>
            </a:r>
            <a:r>
              <a:rPr lang="en-US" sz="1600" b="1" dirty="0" smtClean="0"/>
              <a:t>3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2529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of ports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All the ports upon RESET are configured as input, ready to be used as input ports 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When </a:t>
            </a:r>
            <a:r>
              <a:rPr lang="en-US" sz="2000" dirty="0"/>
              <a:t>the first 0 is written to a port, it becomes an output To reconfigure it as an input, a 1 must be sent to the port 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To </a:t>
            </a:r>
            <a:r>
              <a:rPr lang="en-US" sz="2000" dirty="0"/>
              <a:t>use any of these ports as an input port, it must be programmed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42861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 0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7062"/>
            <a:ext cx="4731658" cy="363474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It can be used for input or output, 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dirty="0" smtClean="0"/>
              <a:t>each </a:t>
            </a:r>
            <a:r>
              <a:rPr lang="en-US" sz="2400" dirty="0"/>
              <a:t>pin must be connected externally to a 10K ohm pull-up </a:t>
            </a:r>
            <a:r>
              <a:rPr lang="en-US" sz="2400" dirty="0" smtClean="0"/>
              <a:t>resistor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is due to the fact that P0 is an open drain, unlike P1, P2, and P3</a:t>
            </a:r>
            <a:endParaRPr lang="en-IN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02" t="40675" r="21355" b="23412"/>
          <a:stretch/>
        </p:blipFill>
        <p:spPr bwMode="auto">
          <a:xfrm>
            <a:off x="5188858" y="2516414"/>
            <a:ext cx="3947885" cy="2627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844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following code will continuously send out to port 0 the alternating value 55H and AAH </a:t>
            </a:r>
            <a:endParaRPr lang="en-US" dirty="0" smtClean="0"/>
          </a:p>
          <a:p>
            <a:pPr marL="484632" lvl="2" indent="0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0070C0"/>
                </a:solidFill>
              </a:rPr>
              <a:t>BACK</a:t>
            </a:r>
            <a:r>
              <a:rPr lang="en-US" dirty="0">
                <a:solidFill>
                  <a:srgbClr val="0070C0"/>
                </a:solidFill>
              </a:rPr>
              <a:t>: MOV A,#55H </a:t>
            </a:r>
            <a:endParaRPr lang="en-US" dirty="0" smtClean="0">
              <a:solidFill>
                <a:srgbClr val="0070C0"/>
              </a:solidFill>
            </a:endParaRPr>
          </a:p>
          <a:p>
            <a:pPr marL="484632" lvl="2" indent="0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0070C0"/>
                </a:solidFill>
              </a:rPr>
              <a:t>MOV </a:t>
            </a:r>
            <a:r>
              <a:rPr lang="en-US" dirty="0">
                <a:solidFill>
                  <a:srgbClr val="0070C0"/>
                </a:solidFill>
              </a:rPr>
              <a:t>P0,A </a:t>
            </a:r>
            <a:endParaRPr lang="en-US" dirty="0" smtClean="0">
              <a:solidFill>
                <a:srgbClr val="0070C0"/>
              </a:solidFill>
            </a:endParaRPr>
          </a:p>
          <a:p>
            <a:pPr marL="484632" lvl="2" indent="0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0070C0"/>
                </a:solidFill>
              </a:rPr>
              <a:t>ACALL </a:t>
            </a:r>
            <a:r>
              <a:rPr lang="en-US" dirty="0">
                <a:solidFill>
                  <a:srgbClr val="0070C0"/>
                </a:solidFill>
              </a:rPr>
              <a:t>DELAY </a:t>
            </a:r>
            <a:endParaRPr lang="en-US" dirty="0" smtClean="0">
              <a:solidFill>
                <a:srgbClr val="0070C0"/>
              </a:solidFill>
            </a:endParaRPr>
          </a:p>
          <a:p>
            <a:pPr marL="484632" lvl="2" indent="0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0070C0"/>
                </a:solidFill>
              </a:rPr>
              <a:t>MOV </a:t>
            </a:r>
            <a:r>
              <a:rPr lang="en-US" dirty="0">
                <a:solidFill>
                  <a:srgbClr val="0070C0"/>
                </a:solidFill>
              </a:rPr>
              <a:t>A,#0AAH </a:t>
            </a:r>
            <a:endParaRPr lang="en-US" dirty="0" smtClean="0">
              <a:solidFill>
                <a:srgbClr val="0070C0"/>
              </a:solidFill>
            </a:endParaRPr>
          </a:p>
          <a:p>
            <a:pPr marL="484632" lvl="2" indent="0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0070C0"/>
                </a:solidFill>
              </a:rPr>
              <a:t>MOV </a:t>
            </a:r>
            <a:r>
              <a:rPr lang="en-US" dirty="0">
                <a:solidFill>
                  <a:srgbClr val="0070C0"/>
                </a:solidFill>
              </a:rPr>
              <a:t>P0,A </a:t>
            </a:r>
            <a:endParaRPr lang="en-US" dirty="0" smtClean="0">
              <a:solidFill>
                <a:srgbClr val="0070C0"/>
              </a:solidFill>
            </a:endParaRPr>
          </a:p>
          <a:p>
            <a:pPr marL="484632" lvl="2" indent="0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0070C0"/>
                </a:solidFill>
              </a:rPr>
              <a:t>ACALL </a:t>
            </a:r>
            <a:r>
              <a:rPr lang="en-US" dirty="0">
                <a:solidFill>
                  <a:srgbClr val="0070C0"/>
                </a:solidFill>
              </a:rPr>
              <a:t>DELAY </a:t>
            </a:r>
            <a:endParaRPr lang="en-US" dirty="0" smtClean="0">
              <a:solidFill>
                <a:srgbClr val="0070C0"/>
              </a:solidFill>
            </a:endParaRPr>
          </a:p>
          <a:p>
            <a:pPr marL="484632" lvl="2" indent="0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0070C0"/>
                </a:solidFill>
              </a:rPr>
              <a:t>SJMP </a:t>
            </a:r>
            <a:r>
              <a:rPr lang="en-US" dirty="0">
                <a:solidFill>
                  <a:srgbClr val="0070C0"/>
                </a:solidFill>
              </a:rPr>
              <a:t>BACK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08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In order to make port 0 an input, the port must be programmed by writing 1 to all the </a:t>
            </a:r>
            <a:r>
              <a:rPr lang="en-US" sz="2000" dirty="0" smtClean="0"/>
              <a:t>bits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Port 0 is configured first as an input port by writing 1s to it</a:t>
            </a:r>
            <a:r>
              <a:rPr lang="en-US" sz="2000" dirty="0" smtClean="0"/>
              <a:t>, and </a:t>
            </a:r>
            <a:r>
              <a:rPr lang="en-US" sz="2000" dirty="0"/>
              <a:t>then data is received from that port and sent to </a:t>
            </a:r>
            <a:r>
              <a:rPr lang="en-US" sz="2000" dirty="0" smtClean="0"/>
              <a:t>P1</a:t>
            </a:r>
          </a:p>
          <a:p>
            <a:pPr marL="484632" lvl="2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070C0"/>
                </a:solidFill>
              </a:rPr>
              <a:t>MOV A,#0FFH </a:t>
            </a:r>
            <a:r>
              <a:rPr lang="en-US" sz="1700" dirty="0" smtClean="0">
                <a:solidFill>
                  <a:srgbClr val="0070C0"/>
                </a:solidFill>
              </a:rPr>
              <a:t>		;</a:t>
            </a:r>
            <a:r>
              <a:rPr lang="en-US" sz="1700" dirty="0">
                <a:solidFill>
                  <a:srgbClr val="0070C0"/>
                </a:solidFill>
              </a:rPr>
              <a:t>A=FF hex </a:t>
            </a:r>
            <a:endParaRPr lang="en-US" sz="1700" dirty="0" smtClean="0">
              <a:solidFill>
                <a:srgbClr val="0070C0"/>
              </a:solidFill>
            </a:endParaRPr>
          </a:p>
          <a:p>
            <a:pPr marL="484632" lvl="2" indent="0">
              <a:lnSpc>
                <a:spcPct val="150000"/>
              </a:lnSpc>
              <a:buNone/>
            </a:pPr>
            <a:r>
              <a:rPr lang="en-US" sz="1700" dirty="0" smtClean="0">
                <a:solidFill>
                  <a:srgbClr val="0070C0"/>
                </a:solidFill>
              </a:rPr>
              <a:t>MOV </a:t>
            </a:r>
            <a:r>
              <a:rPr lang="en-US" sz="1700" dirty="0">
                <a:solidFill>
                  <a:srgbClr val="0070C0"/>
                </a:solidFill>
              </a:rPr>
              <a:t>P0,A </a:t>
            </a:r>
            <a:r>
              <a:rPr lang="en-US" sz="1700" dirty="0" smtClean="0">
                <a:solidFill>
                  <a:srgbClr val="0070C0"/>
                </a:solidFill>
              </a:rPr>
              <a:t>		;</a:t>
            </a:r>
            <a:r>
              <a:rPr lang="en-US" sz="1700" dirty="0">
                <a:solidFill>
                  <a:srgbClr val="0070C0"/>
                </a:solidFill>
              </a:rPr>
              <a:t>make P0 an i/p port </a:t>
            </a:r>
            <a:r>
              <a:rPr lang="en-US" sz="1700" dirty="0" smtClean="0">
                <a:solidFill>
                  <a:srgbClr val="0070C0"/>
                </a:solidFill>
              </a:rPr>
              <a:t>by </a:t>
            </a:r>
            <a:r>
              <a:rPr lang="en-US" sz="1700" dirty="0">
                <a:solidFill>
                  <a:srgbClr val="0070C0"/>
                </a:solidFill>
              </a:rPr>
              <a:t>writing it all 1s </a:t>
            </a:r>
            <a:endParaRPr lang="en-US" sz="1700" dirty="0" smtClean="0">
              <a:solidFill>
                <a:srgbClr val="0070C0"/>
              </a:solidFill>
            </a:endParaRPr>
          </a:p>
          <a:p>
            <a:pPr marL="484632" lvl="2" indent="0">
              <a:lnSpc>
                <a:spcPct val="150000"/>
              </a:lnSpc>
              <a:buNone/>
            </a:pPr>
            <a:r>
              <a:rPr lang="en-US" sz="1700" dirty="0" smtClean="0">
                <a:solidFill>
                  <a:srgbClr val="0070C0"/>
                </a:solidFill>
              </a:rPr>
              <a:t>BACK</a:t>
            </a:r>
            <a:r>
              <a:rPr lang="en-US" sz="1700" dirty="0">
                <a:solidFill>
                  <a:srgbClr val="0070C0"/>
                </a:solidFill>
              </a:rPr>
              <a:t>: MOV A,P0 </a:t>
            </a:r>
            <a:r>
              <a:rPr lang="en-US" sz="1700" dirty="0" smtClean="0">
                <a:solidFill>
                  <a:srgbClr val="0070C0"/>
                </a:solidFill>
              </a:rPr>
              <a:t>	;</a:t>
            </a:r>
            <a:r>
              <a:rPr lang="en-US" sz="1700" dirty="0">
                <a:solidFill>
                  <a:srgbClr val="0070C0"/>
                </a:solidFill>
              </a:rPr>
              <a:t>get data from P0 </a:t>
            </a:r>
            <a:endParaRPr lang="en-US" sz="1700" dirty="0" smtClean="0">
              <a:solidFill>
                <a:srgbClr val="0070C0"/>
              </a:solidFill>
            </a:endParaRPr>
          </a:p>
          <a:p>
            <a:pPr marL="484632" lvl="2" indent="0">
              <a:lnSpc>
                <a:spcPct val="150000"/>
              </a:lnSpc>
              <a:buNone/>
            </a:pPr>
            <a:r>
              <a:rPr lang="en-US" sz="1700" dirty="0" smtClean="0">
                <a:solidFill>
                  <a:srgbClr val="0070C0"/>
                </a:solidFill>
              </a:rPr>
              <a:t>MOV </a:t>
            </a:r>
            <a:r>
              <a:rPr lang="en-US" sz="1700" dirty="0">
                <a:solidFill>
                  <a:srgbClr val="0070C0"/>
                </a:solidFill>
              </a:rPr>
              <a:t>P1,A </a:t>
            </a:r>
            <a:r>
              <a:rPr lang="en-US" sz="1700" dirty="0" smtClean="0">
                <a:solidFill>
                  <a:srgbClr val="0070C0"/>
                </a:solidFill>
              </a:rPr>
              <a:t>		;</a:t>
            </a:r>
            <a:r>
              <a:rPr lang="en-US" sz="1700" dirty="0">
                <a:solidFill>
                  <a:srgbClr val="0070C0"/>
                </a:solidFill>
              </a:rPr>
              <a:t>send it to port 1 </a:t>
            </a:r>
            <a:endParaRPr lang="en-US" sz="1700" dirty="0" smtClean="0">
              <a:solidFill>
                <a:srgbClr val="0070C0"/>
              </a:solidFill>
            </a:endParaRPr>
          </a:p>
          <a:p>
            <a:pPr marL="484632" lvl="2" indent="0">
              <a:lnSpc>
                <a:spcPct val="150000"/>
              </a:lnSpc>
              <a:buNone/>
            </a:pPr>
            <a:r>
              <a:rPr lang="en-US" sz="1700" dirty="0" smtClean="0">
                <a:solidFill>
                  <a:srgbClr val="0070C0"/>
                </a:solidFill>
              </a:rPr>
              <a:t>SJMP </a:t>
            </a:r>
            <a:r>
              <a:rPr lang="en-US" sz="1700" dirty="0">
                <a:solidFill>
                  <a:srgbClr val="0070C0"/>
                </a:solidFill>
              </a:rPr>
              <a:t>BACK </a:t>
            </a:r>
            <a:r>
              <a:rPr lang="en-US" sz="1700" dirty="0" smtClean="0">
                <a:solidFill>
                  <a:srgbClr val="0070C0"/>
                </a:solidFill>
              </a:rPr>
              <a:t>		;</a:t>
            </a:r>
            <a:r>
              <a:rPr lang="en-US" sz="1700" dirty="0">
                <a:solidFill>
                  <a:srgbClr val="0070C0"/>
                </a:solidFill>
              </a:rPr>
              <a:t>keep doing it</a:t>
            </a:r>
            <a:endParaRPr lang="en-IN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46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Port 1 can be used as input or output </a:t>
            </a:r>
            <a:endParaRPr lang="en-US" sz="1400" dirty="0" smtClean="0"/>
          </a:p>
          <a:p>
            <a:r>
              <a:rPr lang="en-US" sz="1400" dirty="0" smtClean="0"/>
              <a:t>In </a:t>
            </a:r>
            <a:r>
              <a:rPr lang="en-US" sz="1400" dirty="0"/>
              <a:t>contrast to port 0, this port does not need any pull-up resistors since it already has pull-up resistors internally </a:t>
            </a:r>
            <a:endParaRPr lang="en-US" sz="1400" dirty="0" smtClean="0"/>
          </a:p>
          <a:p>
            <a:r>
              <a:rPr lang="en-US" sz="1400" dirty="0" smtClean="0"/>
              <a:t>Upon </a:t>
            </a:r>
            <a:r>
              <a:rPr lang="en-US" sz="1400" dirty="0"/>
              <a:t>reset, port 1 is configured as an input </a:t>
            </a:r>
            <a:r>
              <a:rPr lang="en-US" sz="1400" dirty="0" smtClean="0"/>
              <a:t>port</a:t>
            </a:r>
          </a:p>
          <a:p>
            <a:r>
              <a:rPr lang="en-US" sz="1400" dirty="0"/>
              <a:t>The following code will continuously send out to port 0 the alternating value 55H and AAH </a:t>
            </a:r>
            <a:endParaRPr lang="en-US" sz="1400" dirty="0" smtClean="0"/>
          </a:p>
          <a:p>
            <a:pPr marL="246888" lvl="1" indent="0">
              <a:lnSpc>
                <a:spcPct val="150000"/>
              </a:lnSpc>
              <a:buNone/>
            </a:pPr>
            <a:r>
              <a:rPr lang="en-US" sz="1200" dirty="0" smtClean="0">
                <a:solidFill>
                  <a:srgbClr val="0070C0"/>
                </a:solidFill>
              </a:rPr>
              <a:t>	</a:t>
            </a:r>
            <a:r>
              <a:rPr lang="en-US" sz="1400" dirty="0" smtClean="0">
                <a:solidFill>
                  <a:srgbClr val="0070C0"/>
                </a:solidFill>
              </a:rPr>
              <a:t>MOV </a:t>
            </a:r>
            <a:r>
              <a:rPr lang="en-US" sz="1400" dirty="0">
                <a:solidFill>
                  <a:srgbClr val="0070C0"/>
                </a:solidFill>
              </a:rPr>
              <a:t>A,#55H </a:t>
            </a:r>
            <a:endParaRPr lang="en-US" sz="1400" dirty="0" smtClean="0">
              <a:solidFill>
                <a:srgbClr val="0070C0"/>
              </a:solidFill>
            </a:endParaRPr>
          </a:p>
          <a:p>
            <a:pPr marL="246888" lvl="1" indent="0">
              <a:lnSpc>
                <a:spcPct val="150000"/>
              </a:lnSpc>
              <a:buNone/>
            </a:pPr>
            <a:r>
              <a:rPr lang="en-US" sz="1400" dirty="0" smtClean="0">
                <a:solidFill>
                  <a:srgbClr val="0070C0"/>
                </a:solidFill>
              </a:rPr>
              <a:t>BACK</a:t>
            </a:r>
            <a:r>
              <a:rPr lang="en-US" sz="1400" dirty="0">
                <a:solidFill>
                  <a:srgbClr val="0070C0"/>
                </a:solidFill>
              </a:rPr>
              <a:t>: </a:t>
            </a:r>
            <a:r>
              <a:rPr lang="en-US" sz="1400" dirty="0" smtClean="0">
                <a:solidFill>
                  <a:srgbClr val="0070C0"/>
                </a:solidFill>
              </a:rPr>
              <a:t>	MOV </a:t>
            </a:r>
            <a:r>
              <a:rPr lang="en-US" sz="1400" dirty="0">
                <a:solidFill>
                  <a:srgbClr val="0070C0"/>
                </a:solidFill>
              </a:rPr>
              <a:t>P1,A </a:t>
            </a:r>
            <a:endParaRPr lang="en-US" sz="1400" dirty="0" smtClean="0">
              <a:solidFill>
                <a:srgbClr val="0070C0"/>
              </a:solidFill>
            </a:endParaRPr>
          </a:p>
          <a:p>
            <a:pPr marL="246888" lvl="1" indent="0">
              <a:lnSpc>
                <a:spcPct val="150000"/>
              </a:lnSpc>
              <a:buNone/>
            </a:pPr>
            <a:r>
              <a:rPr lang="en-US" sz="1400" dirty="0" smtClean="0">
                <a:solidFill>
                  <a:srgbClr val="0070C0"/>
                </a:solidFill>
              </a:rPr>
              <a:t>	ACALL </a:t>
            </a:r>
            <a:r>
              <a:rPr lang="en-US" sz="1400" dirty="0">
                <a:solidFill>
                  <a:srgbClr val="0070C0"/>
                </a:solidFill>
              </a:rPr>
              <a:t>DELAY </a:t>
            </a:r>
            <a:endParaRPr lang="en-US" sz="1400" dirty="0" smtClean="0">
              <a:solidFill>
                <a:srgbClr val="0070C0"/>
              </a:solidFill>
            </a:endParaRPr>
          </a:p>
          <a:p>
            <a:pPr marL="246888" lvl="1" indent="0">
              <a:lnSpc>
                <a:spcPct val="150000"/>
              </a:lnSpc>
              <a:buNone/>
            </a:pPr>
            <a:r>
              <a:rPr lang="en-US" sz="1400" dirty="0" smtClean="0">
                <a:solidFill>
                  <a:srgbClr val="0070C0"/>
                </a:solidFill>
              </a:rPr>
              <a:t>	CPL </a:t>
            </a:r>
            <a:r>
              <a:rPr lang="en-US" sz="1400" dirty="0">
                <a:solidFill>
                  <a:srgbClr val="0070C0"/>
                </a:solidFill>
              </a:rPr>
              <a:t>A </a:t>
            </a:r>
            <a:r>
              <a:rPr lang="en-US" sz="1400" dirty="0" smtClean="0">
                <a:solidFill>
                  <a:srgbClr val="0070C0"/>
                </a:solidFill>
              </a:rPr>
              <a:t>S</a:t>
            </a:r>
          </a:p>
          <a:p>
            <a:pPr marL="246888" lvl="1" indent="0">
              <a:lnSpc>
                <a:spcPct val="150000"/>
              </a:lnSpc>
              <a:buNone/>
            </a:pPr>
            <a:r>
              <a:rPr lang="en-US" sz="1400" dirty="0" smtClean="0">
                <a:solidFill>
                  <a:srgbClr val="0070C0"/>
                </a:solidFill>
              </a:rPr>
              <a:t>	JMP </a:t>
            </a:r>
            <a:r>
              <a:rPr lang="en-US" sz="1400" dirty="0">
                <a:solidFill>
                  <a:srgbClr val="0070C0"/>
                </a:solidFill>
              </a:rPr>
              <a:t>BACK</a:t>
            </a:r>
            <a:endParaRPr lang="en-IN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15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</a:t>
            </a:r>
            <a:r>
              <a:rPr lang="en-US" dirty="0" err="1" smtClean="0"/>
              <a:t>programme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Port 1 is configured first as an input port by writing 1s to it</a:t>
            </a:r>
            <a:r>
              <a:rPr lang="en-US" dirty="0" smtClean="0"/>
              <a:t>, then </a:t>
            </a:r>
            <a:r>
              <a:rPr lang="en-US" dirty="0"/>
              <a:t>data is received from that port and saved in R7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546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</a:t>
            </a:r>
            <a:r>
              <a:rPr lang="en-US" dirty="0" err="1" smtClean="0"/>
              <a:t>programme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</a:t>
            </a:r>
            <a:r>
              <a:rPr lang="en-US" dirty="0" smtClean="0"/>
              <a:t>to </a:t>
            </a:r>
            <a:r>
              <a:rPr lang="en-US" dirty="0"/>
              <a:t>toggle all the bits of P0, P1, and P2 every 1/4 of a second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166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TIMERS AND COUNTERS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Timers/Counters are used generally for </a:t>
            </a:r>
            <a:endParaRPr lang="en-IN" sz="2400" dirty="0" smtClean="0"/>
          </a:p>
          <a:p>
            <a:pPr lvl="1">
              <a:lnSpc>
                <a:spcPct val="150000"/>
              </a:lnSpc>
            </a:pPr>
            <a:r>
              <a:rPr lang="en-IN" sz="2000" dirty="0" smtClean="0"/>
              <a:t>Time </a:t>
            </a:r>
            <a:r>
              <a:rPr lang="en-IN" sz="2000" dirty="0"/>
              <a:t>reference </a:t>
            </a:r>
            <a:endParaRPr lang="en-IN" sz="2000" dirty="0" smtClean="0"/>
          </a:p>
          <a:p>
            <a:pPr lvl="1">
              <a:lnSpc>
                <a:spcPct val="150000"/>
              </a:lnSpc>
            </a:pPr>
            <a:r>
              <a:rPr lang="en-IN" sz="2000" dirty="0" smtClean="0"/>
              <a:t>Creating </a:t>
            </a:r>
            <a:r>
              <a:rPr lang="en-IN" sz="2000" dirty="0"/>
              <a:t>delay </a:t>
            </a:r>
            <a:endParaRPr lang="en-IN" sz="2000" dirty="0" smtClean="0"/>
          </a:p>
          <a:p>
            <a:pPr lvl="1">
              <a:lnSpc>
                <a:spcPct val="150000"/>
              </a:lnSpc>
            </a:pPr>
            <a:r>
              <a:rPr lang="en-IN" sz="2000" dirty="0" smtClean="0"/>
              <a:t>Wave </a:t>
            </a:r>
            <a:r>
              <a:rPr lang="en-IN" sz="2000" dirty="0"/>
              <a:t>form properties measurement </a:t>
            </a:r>
            <a:endParaRPr lang="en-IN" sz="2000" dirty="0" smtClean="0"/>
          </a:p>
          <a:p>
            <a:pPr lvl="1">
              <a:lnSpc>
                <a:spcPct val="150000"/>
              </a:lnSpc>
            </a:pPr>
            <a:r>
              <a:rPr lang="en-IN" sz="2000" dirty="0" smtClean="0"/>
              <a:t>Periodic </a:t>
            </a:r>
            <a:r>
              <a:rPr lang="en-IN" sz="2000" dirty="0"/>
              <a:t>interrupt generation </a:t>
            </a:r>
            <a:endParaRPr lang="en-IN" sz="2000" dirty="0" smtClean="0"/>
          </a:p>
          <a:p>
            <a:pPr lvl="1">
              <a:lnSpc>
                <a:spcPct val="150000"/>
              </a:lnSpc>
            </a:pPr>
            <a:r>
              <a:rPr lang="en-IN" sz="2000" dirty="0" smtClean="0"/>
              <a:t>Waveform </a:t>
            </a:r>
            <a:r>
              <a:rPr lang="en-IN" sz="2000" dirty="0"/>
              <a:t>generation </a:t>
            </a:r>
            <a:endParaRPr lang="en-IN" sz="2000" dirty="0" smtClean="0"/>
          </a:p>
          <a:p>
            <a:pPr>
              <a:lnSpc>
                <a:spcPct val="150000"/>
              </a:lnSpc>
            </a:pPr>
            <a:r>
              <a:rPr lang="en-IN" sz="2400" dirty="0" smtClean="0"/>
              <a:t>8051 </a:t>
            </a:r>
            <a:r>
              <a:rPr lang="en-IN" sz="2400" dirty="0"/>
              <a:t>has two timers, </a:t>
            </a:r>
            <a:endParaRPr lang="en-IN" sz="2400" dirty="0" smtClean="0"/>
          </a:p>
          <a:p>
            <a:pPr lvl="1">
              <a:lnSpc>
                <a:spcPct val="150000"/>
              </a:lnSpc>
            </a:pPr>
            <a:r>
              <a:rPr lang="en-IN" sz="2100" dirty="0" smtClean="0"/>
              <a:t>Timer </a:t>
            </a:r>
            <a:r>
              <a:rPr lang="en-IN" sz="2100" dirty="0"/>
              <a:t>0 </a:t>
            </a:r>
          </a:p>
          <a:p>
            <a:pPr lvl="1">
              <a:lnSpc>
                <a:spcPct val="150000"/>
              </a:lnSpc>
            </a:pPr>
            <a:r>
              <a:rPr lang="en-IN" sz="2100" dirty="0" smtClean="0"/>
              <a:t>Timer </a:t>
            </a:r>
            <a:r>
              <a:rPr lang="en-IN" sz="2100" dirty="0"/>
              <a:t>1.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440" y="3409950"/>
            <a:ext cx="5960560" cy="173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40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Timer in 8051 is used as timer, counter and baud rate generator. Timer </a:t>
            </a:r>
            <a:r>
              <a:rPr lang="en-US" sz="2000" dirty="0" smtClean="0"/>
              <a:t>always </a:t>
            </a:r>
            <a:r>
              <a:rPr lang="en-US" sz="2000" dirty="0"/>
              <a:t>counts up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/>
              <a:t>The time taken to count one digit up is based on master clock frequency. 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If </a:t>
            </a:r>
            <a:r>
              <a:rPr lang="en-US" sz="2000" dirty="0"/>
              <a:t>Master CLK=12 MHz, 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Timer </a:t>
            </a:r>
            <a:r>
              <a:rPr lang="en-US" sz="2000" dirty="0"/>
              <a:t>Clock frequency = Master CLK/12 = 1 MHz 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Timer </a:t>
            </a:r>
            <a:r>
              <a:rPr lang="en-US" sz="2000" dirty="0"/>
              <a:t>Clock Period = 1micro second </a:t>
            </a:r>
            <a:endParaRPr lang="en-US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This </a:t>
            </a:r>
            <a:r>
              <a:rPr lang="en-US" sz="2000" dirty="0"/>
              <a:t>indicates that one increment in count will take 1 micro second.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4591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two timers in 8051 share two SFRs </a:t>
            </a:r>
            <a:endParaRPr lang="en-US" sz="2400" dirty="0" smtClean="0"/>
          </a:p>
          <a:p>
            <a:pPr lvl="1"/>
            <a:r>
              <a:rPr lang="en-US" sz="2100" dirty="0" smtClean="0"/>
              <a:t>TMOD</a:t>
            </a:r>
          </a:p>
          <a:p>
            <a:pPr lvl="1"/>
            <a:r>
              <a:rPr lang="en-US" sz="2100" dirty="0" smtClean="0"/>
              <a:t>TCON</a:t>
            </a:r>
            <a:endParaRPr lang="en-IN" sz="21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8" t="59635" r="23133" b="13281"/>
          <a:stretch/>
        </p:blipFill>
        <p:spPr bwMode="auto">
          <a:xfrm>
            <a:off x="476250" y="2800350"/>
            <a:ext cx="70675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422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TMOD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6" t="32031" r="16984" b="46094"/>
          <a:stretch/>
        </p:blipFill>
        <p:spPr bwMode="auto">
          <a:xfrm>
            <a:off x="0" y="1276350"/>
            <a:ext cx="8182429" cy="145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9" t="31250" r="12152" b="42969"/>
          <a:stretch/>
        </p:blipFill>
        <p:spPr bwMode="auto">
          <a:xfrm>
            <a:off x="76200" y="2918147"/>
            <a:ext cx="9067800" cy="170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67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Timer/ counter mode selection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Timer And Counters In 8051 Microcontroller - Quick Lear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57350"/>
            <a:ext cx="7253622" cy="256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295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50"/>
            <a:ext cx="7239000" cy="685800"/>
          </a:xfrm>
        </p:spPr>
        <p:txBody>
          <a:bodyPr/>
          <a:lstStyle/>
          <a:p>
            <a:r>
              <a:rPr lang="en-US" dirty="0" err="1" smtClean="0"/>
              <a:t>Tcon</a:t>
            </a:r>
            <a:r>
              <a:rPr lang="en-US" dirty="0" smtClean="0"/>
              <a:t> register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8" t="27085" r="14202" b="9634"/>
          <a:stretch/>
        </p:blipFill>
        <p:spPr bwMode="auto">
          <a:xfrm>
            <a:off x="127314" y="742950"/>
            <a:ext cx="9016686" cy="4364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151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73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Study 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0070C0"/>
          </a:solidFill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N" sz="1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Muhammad Ali </a:t>
            </a:r>
            <a:r>
              <a:rPr lang="en-IN" sz="16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Mazidi</a:t>
            </a:r>
            <a:r>
              <a:rPr lang="en-IN" sz="1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and Janice Gillespie </a:t>
            </a:r>
            <a:r>
              <a:rPr lang="en-IN" sz="16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Mazidi</a:t>
            </a:r>
            <a:r>
              <a:rPr lang="en-IN" sz="1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and </a:t>
            </a:r>
            <a:r>
              <a:rPr lang="en-IN" sz="1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Rollin D</a:t>
            </a:r>
            <a:r>
              <a:rPr lang="en-IN" sz="1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,</a:t>
            </a:r>
            <a:r>
              <a:rPr lang="en-IN" sz="1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“</a:t>
            </a:r>
            <a:r>
              <a:rPr lang="en-US" sz="1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 8051 Microcontroller and Embedded Systems – using assembly and C”, 2014 , </a:t>
            </a:r>
            <a:r>
              <a:rPr lang="en-US" sz="16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McKinl</a:t>
            </a:r>
            <a:r>
              <a:rPr lang="en-US" sz="1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ay PHI, Pearson </a:t>
            </a:r>
            <a:r>
              <a:rPr lang="en-US" sz="16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Publication</a:t>
            </a:r>
            <a:endParaRPr lang="en-IN" sz="1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IN" sz="1600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Notes.pdf</a:t>
            </a:r>
            <a:endParaRPr lang="en-IN" sz="16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Difference Between Microprocessor and Microcontroller</a:t>
            </a:r>
            <a:endParaRPr lang="en-IN" sz="16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Introduction to Microcontroller - Microcontrollers and Its </a:t>
            </a: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Applications</a:t>
            </a:r>
            <a:endParaRPr lang="en-US" sz="16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hlinkClick r:id="rId5"/>
              </a:rPr>
              <a:t>RISC vs. CISC: Understanding Reduced Instruction Set Computer and Complex Instruction Set </a:t>
            </a: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5"/>
              </a:rPr>
              <a:t>Computer</a:t>
            </a:r>
            <a:endParaRPr lang="en-US" sz="16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hlinkClick r:id="rId6"/>
              </a:rPr>
              <a:t>Von Neumann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6"/>
              </a:rPr>
              <a:t>Vs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hlinkClick r:id="rId6"/>
              </a:rPr>
              <a:t> Harvard Architecture: Parameters, Differences, and Key Features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90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5828" y="1274549"/>
            <a:ext cx="6255488" cy="1021556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143000" y="2800350"/>
            <a:ext cx="6255488" cy="1752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Dr. </a:t>
            </a:r>
            <a:r>
              <a:rPr lang="en-US" dirty="0" err="1"/>
              <a:t>Chidananda</a:t>
            </a:r>
            <a:r>
              <a:rPr lang="en-US" dirty="0"/>
              <a:t> Murthy M V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Dept. of ECE, SSIT</a:t>
            </a:r>
          </a:p>
          <a:p>
            <a:r>
              <a:rPr lang="en-US" dirty="0"/>
              <a:t>SSAHE, </a:t>
            </a:r>
            <a:r>
              <a:rPr lang="en-US" dirty="0" err="1"/>
              <a:t>Tumkur</a:t>
            </a:r>
            <a:endParaRPr lang="en-US" dirty="0"/>
          </a:p>
          <a:p>
            <a:r>
              <a:rPr lang="en-US" dirty="0" smtClean="0">
                <a:solidFill>
                  <a:srgbClr val="0070C0"/>
                </a:solidFill>
              </a:rPr>
              <a:t>chidanandamurthymv@ssit.edu.in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9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574</TotalTime>
  <Words>599</Words>
  <Application>Microsoft Office PowerPoint</Application>
  <PresentationFormat>On-screen Show (16:9)</PresentationFormat>
  <Paragraphs>89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Opulent</vt:lpstr>
      <vt:lpstr>Microprocessor and its applications 2024-25</vt:lpstr>
      <vt:lpstr>8051 I/O Ports, Timer/counter programming</vt:lpstr>
      <vt:lpstr>Peripherals</vt:lpstr>
      <vt:lpstr>Ports of 8051</vt:lpstr>
      <vt:lpstr>PowerPoint Presentation</vt:lpstr>
      <vt:lpstr>Programming of ports</vt:lpstr>
      <vt:lpstr>Port 0</vt:lpstr>
      <vt:lpstr>PowerPoint Presentation</vt:lpstr>
      <vt:lpstr>PowerPoint Presentation</vt:lpstr>
      <vt:lpstr>Port 1</vt:lpstr>
      <vt:lpstr>Write programme</vt:lpstr>
      <vt:lpstr>Write programme</vt:lpstr>
      <vt:lpstr>TIMERS AND COUNTERS </vt:lpstr>
      <vt:lpstr>PowerPoint Presentation</vt:lpstr>
      <vt:lpstr>PowerPoint Presentation</vt:lpstr>
      <vt:lpstr>TMOD Register</vt:lpstr>
      <vt:lpstr>Timer/ counter mode selection</vt:lpstr>
      <vt:lpstr>Tcon register</vt:lpstr>
      <vt:lpstr>PowerPoint Presentation</vt:lpstr>
      <vt:lpstr>Study 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Wion-10</cp:lastModifiedBy>
  <cp:revision>161</cp:revision>
  <dcterms:created xsi:type="dcterms:W3CDTF">2022-10-18T15:55:59Z</dcterms:created>
  <dcterms:modified xsi:type="dcterms:W3CDTF">2025-05-04T17:18:26Z</dcterms:modified>
</cp:coreProperties>
</file>